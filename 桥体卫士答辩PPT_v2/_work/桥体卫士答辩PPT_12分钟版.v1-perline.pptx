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是「桥体卫士」的答辩人。这是一套桥梁结构健康监测的缩尺原型系统：从采集、判断、存储到展示与处置，五个环节跑成一条完整闭环。这套系统是怎么做的、能证明什么，我用十二分钟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演示视频页。开场：「这一分钟是系统的完整操作录屏——用模拟数据源跑通全链路，因为本次不使用硬件。」收尾：「视频里最后一步是拔掉设备、系统如实显示离线——这是我最想强调的一点：不造假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桥梁长期受载，结构健康关乎安全。但专业监测设备贵、部署难，还依赖标定。这套系统换了一个思路：用缩尺桥梁模型做受载变化模拟，把采集、判断、存储、展示、处置这条链路完整跑通。这里先说明边界：它是缩尺原型，输出的是相对应变指标，无量纲，不做精度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系统分六层：硬件层、采集层、规则引擎、数据层、服务层、展示层。最核心的设计在采集层——一个数据源抽象：模拟器和真实串口实现同一个接口，用环境变量一键切换。这意味着同样的报警判断、同样的存储、同样的界面，换数据源不用改上层代码。后端一共 19 条路由，核心 Python 模块 6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数据源有两种：模拟和真实串口，用 DATA_SOURCE 一键切换。现场最怕不确定，所以设备健康度由三样东西构成：心跳时间戳、连续超时计数、最近错误原因。拔掉设备，大屏立刻如实显示「设备离线」，并触发一条设备离线报警——不沿用旧值制造在线假象。真实硬件链路已实现，本次按软件模式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这是核心亮点。大屏中央是「桥梁结构三维可视化监测场景」——按花江峡谷大桥的公开设计参数程序化建模：主跨 1420 米、双塔单跨钢桁梁悬索桥；杆件与缆索按公开参数生成，它是几何示意，不是实测模型。场景可以旋转、缩放、平移，双击任意位置就能聚焦过去，一共五个预设视角，结构线框可以开关，点选测点就能看到部位说明。风险等级一变，全场颜色和测点波纹节奏跟着变。依赖全部本地化，断网照样跑；WebGL 不可用时会如实降级成二维示意图。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风险分四级：正常、预警、报警、严重报警，对应绿、黄、橙、红。分级口径是：超过阈值 1.2 倍判严重报警，1.1 倍判报警，其余是预警。颜色不是装饰——大屏风险卡、阈值仪表、报警行共用同一套颜色语言，一眼就能看出现在处于哪一级。规则用边沿触发加滞回，进入超限只提醒一次，不会刷屏。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报警引擎一共六类规则：阈值超限、变化率突变、持续超限、短时波动、基线偏移，加上设备离线。关键在可解释：每条报警都带着触发规则、触发值和原因。比如原因会写成「应变指标 135.00 超过阈值 120.00，相对应变指标，无量纲」——评委看到的是一个事实，不是一个红点。规则默认参数是：阈值 120、变化率 10、持续 5 个点、基线窗口 30、漂移 20。防刷屏靠边沿触发加滞回：进入超限的瞬间只报一次，回到安全区才允许再报。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警不是终点。待处置计数在报警出现时变红，值班人员点「确认处理」，状态从「未处理」变为「已处理」，处置留痕。设备离线会触发一条严重报警，恢复在线时系统自动记录「设备恢复」——连设备自身的异常也纳入同一个闭环。另外，谁在何时改了阈值或采样周期，都写进审计表，设置页能看到最近变更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数据统一存在 SQLite 里，一共五张表：samples 采样、alarms 报警、settings 参数、audit 审计、device_heartbeat 设备心跳。时间、设备号、来源、状态这些字段口径统一，主要表都建了时间索引，历史查询不会全表加载。每次参数变更都会写审计，历史数据支持时间筛选、统计摘要和 CSV 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安全上，密钥走环境变量、不硬编码；所有页面和接口统一鉴权，未登录访问 API 返回 401；写接口都做 CSRF 防护；口令支持哈希校验，可用环境变量切换。工程化上，测试套件一共 101 个用例、11 个测试文件，覆盖规则引擎、数据层、鉴权、CSRF、串口链路与设备心跳。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成果是可度量的。测试套件一共 101 个用例、11 个测试文件，覆盖规则引擎、数据层、鉴权、CSRF、串口链路、设备心跳与离线，还有页面壳和移动端布局。规则引擎里防刷屏和分级判定的用例也在其中。另外，历史页会动态拉取当前生效阈值，超限统计和阈值线跟设置页保持一致。每个结论都能用源码、测试输出或现场演示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最后是边界。当前是单设备原型，没有做冗余；输出的是相对应变指标，无量纲，不是工程应变；采样周期 1 秒，不是毫秒级；也没有做长期稳定性验证。这些如实说。扩展方向很明确：多测点接入、HTTP 备份通道、更长时间的老化与稳定性测试，以及更细的标定流程。拿不出证据的，就如实写「待实测」。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只让我用三个词总结这个作品：可解释、可追溯、不造假。每条报警说得出为什么，每次改动和处置都留得下痕迹，每句结论都拿得出源码、测试或演示来证明。做完整的监测闭环，不做无法佐证的能力描述。这就是我想交付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我的汇报到这里。这套系统的每一处结论，都能用源码、测试或现场演示复核。接下来请看现场演示。谢谢各位评委。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封面_花江峡谷大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0"/>
            <a:ext cx="12192000" cy="4114800"/>
          </a:xfrm>
          <a:prstGeom prst="rect">
            <a:avLst/>
          </a:prstGeom>
          <a:gradFill rotWithShape="1">
            <a:gsLst>
              <a:gs pos="0">
                <a:srgbClr val="0B1B2B">
                  <a:alpha val="0"/>
                </a:srgbClr>
              </a:gs>
              <a:gs pos="45000">
                <a:srgbClr val="0B1B2B">
                  <a:alpha val="57999"/>
                </a:srgbClr>
              </a:gs>
              <a:gs pos="100000">
                <a:srgbClr val="0B1B2B">
                  <a:alpha val="9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" cy="25146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3300000"/>
            <a:ext cx="9800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6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桥体卫士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4600000"/>
            <a:ext cx="9800000" cy="40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E6EEF8"/>
                </a:solidFill>
                <a:latin typeface="Segoe UI"/>
                <a:ea typeface="微软雅黑"/>
                <a:cs typeface="Segoe UI"/>
              </a:rPr>
              <a:t>桥梁结构健康监测缩尺原型 · 三维可视化监测场景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5050000"/>
            <a:ext cx="9800000" cy="3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 i="0">
                <a:solidFill>
                  <a:srgbClr val="AFC3D8"/>
                </a:solidFill>
                <a:latin typeface="Segoe UI"/>
                <a:ea typeface="微软雅黑"/>
                <a:cs typeface="Segoe UI"/>
              </a:rPr>
              <a:t>软件技术专业 · 缩尺桥梁模型受载变化模拟 · 单人主讲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现场演示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演示视频（1 分钟）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02 / 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400000"/>
            <a:ext cx="2500000" cy="32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885800" y="1400000"/>
            <a:ext cx="2500000" cy="320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5250000"/>
            <a:ext cx="5700000" cy="35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>
            <a:off x="3265800" y="3000000"/>
            <a:ext cx="440000" cy="0"/>
          </a:xfrm>
          <a:prstGeom prst="line">
            <a:avLst/>
          </a:prstGeom>
          <a:ln w="2540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8200" y="1540000"/>
            <a:ext cx="21952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传统桥梁监测的难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38200" y="1540000"/>
            <a:ext cx="21952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缩尺原型方案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21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设备昂贵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27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部署困难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依赖专业标定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38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数据难复现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3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2731F"/>
                </a:solidFill>
                <a:latin typeface="Segoe UI"/>
                <a:ea typeface="微软雅黑"/>
                <a:cs typeface="Segoe UI"/>
              </a:rPr>
              <a:t>→ 现场无法复现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8200" y="21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低成本，无需硬件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38200" y="27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可演示：现场直接跑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38200" y="325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可复现：一键切换场景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38200" y="38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软件全链路可跑通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38200" y="4300000"/>
            <a:ext cx="219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→ 答辩现场即可跑通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85800" y="2400000"/>
            <a:ext cx="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换一条路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000" y="5250000"/>
            <a:ext cx="5471600" cy="35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定位：缩尺原型 + 软件全链路演示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0000" y="1400000"/>
            <a:ext cx="4606200" cy="19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6900000" y="3700000"/>
            <a:ext cx="4606200" cy="19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050000" y="152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定位：完整链路原型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0000" y="193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缩尺桥梁模型的受载变化模拟，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50000" y="22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把采集、判断、存储、展示、处置跑通。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50000" y="382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边界：不夸大，不越线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50000" y="423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输出相对应变指标，无量纲，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0000" y="45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不做精度承诺，只做可验证的链路。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项目定位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为什么做这件事 —— 桥梁受载监测的痛点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03 / 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12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24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00000" y="15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100000" y="22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 w="2540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100000" y="29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100000" y="36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100000" y="43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100000" y="5020000"/>
            <a:ext cx="5406200" cy="56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0500000" y="2340000"/>
            <a:ext cx="950000" cy="320000"/>
          </a:xfrm>
          <a:prstGeom prst="roundRect">
            <a:avLst>
              <a:gd name="adj" fmla="val 5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8803100" y="20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03100" y="27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03100" y="34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03100" y="41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03100" y="4880000"/>
            <a:ext cx="0" cy="14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52400" y="16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硬件层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2400" y="23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采集层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2400" y="30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规则引擎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2400" y="37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2400" y="44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服务层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52400" y="5140000"/>
            <a:ext cx="16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展示层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0000" y="16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ESP32 + 传感器（现场不接实物）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0000" y="23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DataSource：sim|serial 可插拔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0000" y="30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6 类可解释规则 · 滞回防刷屏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50000" y="37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SQLite 五表 + 3 个时间索引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50000" y="44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Flask 19 条路由 · 统一鉴权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0000" y="5185700"/>
            <a:ext cx="23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三维场景 + 大屏 + 手机趋势页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000" y="2340000"/>
            <a:ext cx="95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可插拔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1400000"/>
            <a:ext cx="50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85800" y="2900000"/>
            <a:ext cx="50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685800" y="4400000"/>
            <a:ext cx="50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85800" y="1500000"/>
            <a:ext cx="47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核心：数据源抽象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800" y="188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模拟器与串口实现同一个接口。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5800" y="221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DATA_SOURCE 一键切换。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5800" y="3000000"/>
            <a:ext cx="47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上层只依赖接口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5800" y="338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换数据源不动报警、存储与展示逻辑。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5800" y="4500000"/>
            <a:ext cx="47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工程规模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5800" y="488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19 条后端路由 · 6 个 Python 模块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系统架构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六层架构 —— 数据源可插拔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04 / 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468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480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492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504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516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528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540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552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564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12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24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35800" y="1400000"/>
            <a:ext cx="2400000" cy="40000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85800" y="2200000"/>
            <a:ext cx="2700000" cy="2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685800" y="2200000"/>
            <a:ext cx="2700000" cy="2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85800" y="5100000"/>
            <a:ext cx="5700000" cy="440000"/>
          </a:xfrm>
          <a:prstGeom prst="roundRect">
            <a:avLst>
              <a:gd name="adj" fmla="val 4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Connector 35"/>
          <p:cNvCxnSpPr/>
          <p:nvPr/>
        </p:nvCxnSpPr>
        <p:spPr>
          <a:xfrm>
            <a:off x="3535800" y="1800000"/>
            <a:ext cx="0" cy="22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985800" y="2010000"/>
            <a:ext cx="1550000" cy="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85800" y="2010000"/>
            <a:ext cx="0" cy="19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35800" y="2010000"/>
            <a:ext cx="1550000" cy="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85800" y="2010000"/>
            <a:ext cx="0" cy="19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335800" y="1400000"/>
            <a:ext cx="2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DATA_SOURCE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2340000"/>
            <a:ext cx="23944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模拟模式 · sim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38200" y="2340000"/>
            <a:ext cx="23944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串口模式 · serial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278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6 个场景一键切换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" y="326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正常/预警/报警/严重/离线/恢复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4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大屏常显模拟演示水印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22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围绕 80 波动，始终在线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38200" y="278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心跳时间戳持续更新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8200" y="326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连续超时计数 ≥ 10 → 离线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38200" y="374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最近错误原因原样透出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8200" y="4220000"/>
            <a:ext cx="239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三态：未连接/在线/离线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000" y="5100000"/>
            <a:ext cx="5471600" cy="4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断线如实「设备离线」 · 不伪造数据、不沿用旧值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00000" y="1400000"/>
            <a:ext cx="460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6900000" y="2900000"/>
            <a:ext cx="460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6900000" y="4400000"/>
            <a:ext cx="460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050000" y="150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健康度三要素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0000" y="18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心跳时间戳 / 连续超时计数 / 最近错误原因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0000" y="300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断线就报离线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0000" y="33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不沿用旧值，不伪造在线状态。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0000" y="4500000"/>
            <a:ext cx="430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本次演示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0000" y="4880000"/>
            <a:ext cx="430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真实硬件链路已实现，本次按软件模式演示。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工程兜底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数据源与设备策略 —— 断线如实离线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05 / 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468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480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492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504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12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24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546000" y="2398720"/>
            <a:ext cx="1204000" cy="22200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50000" y="4618720"/>
            <a:ext cx="1800000" cy="0"/>
          </a:xfrm>
          <a:prstGeom prst="line">
            <a:avLst/>
          </a:prstGeom>
          <a:ln w="12700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550000" y="2298720"/>
            <a:ext cx="1203000" cy="23200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0000" y="2398720"/>
            <a:ext cx="7860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753000" y="2298720"/>
            <a:ext cx="1547000" cy="0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546000" y="1438720"/>
            <a:ext cx="0" cy="96000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753000" y="1438720"/>
            <a:ext cx="0" cy="86000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88000" y="1438720"/>
            <a:ext cx="116000" cy="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695000" y="1438720"/>
            <a:ext cx="116000" cy="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20000" y="1438720"/>
            <a:ext cx="726000" cy="96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53000" y="1438720"/>
            <a:ext cx="1467000" cy="86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546000" y="1438720"/>
            <a:ext cx="467444" cy="224395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013444" y="1663115"/>
            <a:ext cx="467445" cy="168296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80889" y="1831411"/>
            <a:ext cx="467444" cy="112198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48333" y="1943609"/>
            <a:ext cx="467445" cy="56099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415778" y="1999708"/>
            <a:ext cx="467444" cy="0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883222" y="1943609"/>
            <a:ext cx="467445" cy="56099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350667" y="1831411"/>
            <a:ext cx="467444" cy="112198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18111" y="1663115"/>
            <a:ext cx="467445" cy="168296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285556" y="1438720"/>
            <a:ext cx="467444" cy="224395"/>
          </a:xfrm>
          <a:prstGeom prst="line">
            <a:avLst/>
          </a:prstGeom>
          <a:ln w="2540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896583" y="1607016"/>
            <a:ext cx="0" cy="511704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247167" y="1747263"/>
            <a:ext cx="0" cy="37145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597750" y="1859460"/>
            <a:ext cx="0" cy="25926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48333" y="1943609"/>
            <a:ext cx="0" cy="175111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298917" y="1985683"/>
            <a:ext cx="0" cy="13303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649500" y="1999708"/>
            <a:ext cx="0" cy="119012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000083" y="1985683"/>
            <a:ext cx="0" cy="13303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350667" y="1943609"/>
            <a:ext cx="0" cy="175111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701250" y="1859460"/>
            <a:ext cx="0" cy="25926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051833" y="1747263"/>
            <a:ext cx="0" cy="371457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402417" y="1607016"/>
            <a:ext cx="0" cy="511704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0000" y="2118720"/>
            <a:ext cx="648000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00000" y="2178720"/>
            <a:ext cx="6280000" cy="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8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7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5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1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8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5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1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700000" y="2118720"/>
            <a:ext cx="0" cy="60000"/>
          </a:xfrm>
          <a:prstGeom prst="line">
            <a:avLst/>
          </a:prstGeom>
          <a:ln w="1270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606991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2308158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5112825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5463408" y="189012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710491" y="1761400"/>
            <a:ext cx="228600" cy="2286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2600000" y="1560000"/>
            <a:ext cx="76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主缆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00000" y="4700000"/>
            <a:ext cx="11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主跨 1420 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600000" y="1300000"/>
            <a:ext cx="3906200" cy="11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7600000" y="2600000"/>
            <a:ext cx="3906200" cy="11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7600000" y="3900000"/>
            <a:ext cx="3906200" cy="115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50000" y="1420000"/>
            <a:ext cx="3606200" cy="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主跨 1420m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50000" y="1920000"/>
            <a:ext cx="36062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双塔单跨钢桁梁悬索桥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0000" y="2720000"/>
            <a:ext cx="3606200" cy="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5 个预设视角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50000" y="3220000"/>
            <a:ext cx="36062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旋转 / 缩放 / 平移 / 双击聚焦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50000" y="4020000"/>
            <a:ext cx="3606200" cy="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断网可用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0000" y="4520000"/>
            <a:ext cx="3606200" cy="2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three.js r160 本地化，WebGL 不可用降级二维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5100000"/>
            <a:ext cx="6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花江峡谷大桥按公开设计参数程序化建模；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5450000"/>
            <a:ext cx="6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杆件与缆索按公开参数生成，点选测点看说明。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核心亮点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三维监测场景 —— 一屏统管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06 / 15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468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480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492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504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516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528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540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552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564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576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588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600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612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624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636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648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660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672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684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696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708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720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732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744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756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768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780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792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804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816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828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840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12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24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3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868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433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9998000" y="1400000"/>
            <a:ext cx="1505000" cy="1000000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655738" y="3615075"/>
            <a:ext cx="4682822" cy="495975"/>
          </a:xfrm>
          <a:prstGeom prst="rect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55738" y="3515880"/>
            <a:ext cx="4682822" cy="99195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55738" y="3416685"/>
            <a:ext cx="4682822" cy="99195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55738" y="3119100"/>
            <a:ext cx="4682822" cy="297585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655738" y="4111050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50000" y="3999290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60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55738" y="3863062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50000" y="3751302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90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655738" y="3615075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50000" y="3503315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120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55738" y="3367087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50000" y="3255327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150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655738" y="3119100"/>
            <a:ext cx="4682822" cy="0"/>
          </a:xfrm>
          <a:prstGeom prst="line">
            <a:avLst/>
          </a:prstGeom>
          <a:ln w="952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50000" y="3007340"/>
            <a:ext cx="1178306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180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55738" y="3119100"/>
            <a:ext cx="0" cy="991950"/>
          </a:xfrm>
          <a:prstGeom prst="line">
            <a:avLst/>
          </a:prstGeom>
          <a:ln w="1587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655738" y="4111050"/>
            <a:ext cx="4682822" cy="0"/>
          </a:xfrm>
          <a:prstGeom prst="line">
            <a:avLst/>
          </a:prstGeom>
          <a:ln w="15875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55738" y="3912660"/>
            <a:ext cx="425711" cy="49597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081449" y="3912660"/>
            <a:ext cx="425711" cy="33065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507160" y="3879595"/>
            <a:ext cx="425711" cy="6613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932871" y="3813465"/>
            <a:ext cx="425711" cy="6613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358582" y="3681205"/>
            <a:ext cx="425711" cy="13226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784293" y="3582010"/>
            <a:ext cx="425711" cy="99195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10004" y="3507613"/>
            <a:ext cx="425711" cy="74397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635715" y="3441483"/>
            <a:ext cx="425711" cy="66130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061426" y="3350555"/>
            <a:ext cx="425711" cy="90928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487137" y="3350555"/>
            <a:ext cx="425711" cy="49597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912848" y="3400152"/>
            <a:ext cx="425712" cy="148793"/>
          </a:xfrm>
          <a:prstGeom prst="line">
            <a:avLst/>
          </a:prstGeom>
          <a:ln w="28575">
            <a:solidFill>
              <a:srgbClr val="00B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6617638" y="3924157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43349" y="3874560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469060" y="390762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894771" y="384149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320482" y="377536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46193" y="364310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71904" y="3543910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97615" y="3469513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023326" y="3403383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449037" y="331245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874748" y="3362052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300460" y="3510845"/>
            <a:ext cx="76200" cy="76200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655738" y="3615075"/>
            <a:ext cx="4682822" cy="0"/>
          </a:xfrm>
          <a:prstGeom prst="line">
            <a:avLst/>
          </a:prstGeom>
          <a:ln w="15875">
            <a:solidFill>
              <a:srgbClr val="E548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749394" y="3398540"/>
            <a:ext cx="612190" cy="20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49394" y="3398540"/>
            <a:ext cx="61219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>
                <a:solidFill>
                  <a:srgbClr val="E5484D"/>
                </a:solidFill>
                <a:latin typeface="Segoe UI"/>
                <a:ea typeface="微软雅黑"/>
                <a:cs typeface="Segoe UI"/>
              </a:rPr>
              <a:t>阈值 120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55738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77108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02819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8530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54241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79952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5663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31374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57085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82796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08507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29878" y="4138482"/>
            <a:ext cx="40868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5738" y="4404420"/>
            <a:ext cx="4682822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采样点（1 s 周期，示意）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50000" y="2700000"/>
            <a:ext cx="1178306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相对应变指标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300000" y="4950000"/>
            <a:ext cx="6206200" cy="44000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5383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正常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48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预警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13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报警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78000" y="1500000"/>
            <a:ext cx="1345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严重报警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83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≤ 120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48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&gt; 120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13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≥ 132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78000" y="1920000"/>
            <a:ext cx="134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≥ 144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20000" y="4950000"/>
            <a:ext cx="5966200" cy="4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等级 → 颜色 → 处置优先级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85800" y="1400000"/>
            <a:ext cx="43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ounded Rectangle 102"/>
          <p:cNvSpPr/>
          <p:nvPr/>
        </p:nvSpPr>
        <p:spPr>
          <a:xfrm>
            <a:off x="685800" y="2900000"/>
            <a:ext cx="43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ounded Rectangle 103"/>
          <p:cNvSpPr/>
          <p:nvPr/>
        </p:nvSpPr>
        <p:spPr>
          <a:xfrm>
            <a:off x="685800" y="4400000"/>
            <a:ext cx="43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785800" y="1500000"/>
            <a:ext cx="40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四级颜色语言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85800" y="188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大屏、仪表、报警行同一套颜色语言。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5800" y="3000000"/>
            <a:ext cx="40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分级口径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5800" y="338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超过阈值 1.2 倍判严重报警，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5800" y="371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1.1 倍判报警，其余预警。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5800" y="4500000"/>
            <a:ext cx="40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一次有效提醒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5800" y="4880000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边沿触发 + 滞回，不刷屏。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核心亮点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风险联动 —— 颜色就是结论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07 / 15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468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480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492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504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516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528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540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552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564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576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588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600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612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624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636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648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660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672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684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696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708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720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732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744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756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768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780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792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804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816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828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840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852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864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876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888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12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24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350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156000" y="1350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2486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156000" y="2486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85800" y="3622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156000" y="3622000"/>
            <a:ext cx="5350200" cy="104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883600" y="1410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10353800" y="1410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4883600" y="2546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10353800" y="2546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883600" y="3682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0353800" y="3682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8200" y="142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阈值超限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8400" y="142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变化率突变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2556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持续超限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8400" y="2556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短时波动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2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基线偏移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8400" y="3692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设备离线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3600" y="1410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边沿触发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53800" y="1410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瞬时事件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3600" y="2546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持续判定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53800" y="2546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滞回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83600" y="3682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滞回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53800" y="3682000"/>
            <a:ext cx="10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设备事件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1740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值 &gt; 阈值 120.0：进入超限的瞬间报一次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8400" y="1740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单周期 |Δ| ≥ 10.0：瞬时事件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200" y="2876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连续 5 个采样点超阈值：只报一次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8400" y="2876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近 10 点峰谷差 ≥ 30.0：滞回防刷屏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200" y="4012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近 30 点前半/后半均值偏移 ≥ 20.0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8400" y="4012000"/>
            <a:ext cx="5045400" cy="2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连续心跳超时 ≥ 10 次：如实判离线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200" y="2050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应变指标 132.40 超过阈值 120.00（相对应变指标，无量纲）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8400" y="2050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单周期变化 +12.35，超过变化率阈值 ±10.00（相对应变指标）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3186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连续 5 个采样点超过阈值 120.00（相对应变指标）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8400" y="3186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近 10 点峰谷差 41.20，超过波动阈值 30.00（相对应变指标）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4322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近期均值 118.60 相对基线 96.10 偏移 +22.50，超过阈值 20.00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8400" y="4322000"/>
            <a:ext cx="5045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设备失去连接：心跳超时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4820000"/>
            <a:ext cx="108204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每条报警 = 触发规则 + 触发值 + 原因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200000"/>
            <a:ext cx="108204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边沿触发 + 滞回：持续超限只报一次，回落后才能再报；参数集中在 rules.py。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技术核心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6 类可解释规则 —— 每条报警说清为什么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08 / 15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468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480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492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504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516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528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540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552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564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576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588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600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12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24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8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0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285800" y="1500000"/>
            <a:ext cx="110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85800" y="5090000"/>
            <a:ext cx="1430000" cy="560000"/>
          </a:xfrm>
          <a:prstGeom prst="roundRect">
            <a:avLst>
              <a:gd name="adj" fmla="val 8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320800" y="5090000"/>
            <a:ext cx="143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955800" y="5090000"/>
            <a:ext cx="1430000" cy="56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1800000" y="2800000"/>
            <a:ext cx="2700000" cy="1500000"/>
          </a:xfrm>
          <a:prstGeom prst="roundRect">
            <a:avLst>
              <a:gd name="adj" fmla="val 5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0" name="Connector 39"/>
          <p:cNvCxnSpPr/>
          <p:nvPr/>
        </p:nvCxnSpPr>
        <p:spPr>
          <a:xfrm>
            <a:off x="1785800" y="1780000"/>
            <a:ext cx="100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85800" y="1780000"/>
            <a:ext cx="100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85800" y="1780000"/>
            <a:ext cx="100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835800" y="2060000"/>
            <a:ext cx="0" cy="303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750800" y="5370000"/>
            <a:ext cx="205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115800" y="5370000"/>
            <a:ext cx="2050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35800" y="2060000"/>
            <a:ext cx="0" cy="303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报警产生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分级着色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确认处置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65800" y="1500000"/>
            <a:ext cx="94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状态变更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5800" y="5090000"/>
            <a:ext cx="12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设备恢复记录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00800" y="5090000"/>
            <a:ext cx="12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历史可查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5800" y="5090000"/>
            <a:ext cx="1270000" cy="5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审计留痕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00000" y="2960000"/>
            <a:ext cx="27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7 步闭环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00000" y="348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产生 → 处置 → 留痕 → 可查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00000" y="38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每一步都写库，可回放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50000" y="1450000"/>
            <a:ext cx="575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5750000" y="2900000"/>
            <a:ext cx="575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5750000" y="4350000"/>
            <a:ext cx="57562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900000" y="1550000"/>
            <a:ext cx="545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有人认领，有状态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00000" y="1930000"/>
            <a:ext cx="545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确认处理后，状态从「未处理」转为「已处理」。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0000" y="3000000"/>
            <a:ext cx="545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连设备异常也入环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0000" y="3380000"/>
            <a:ext cx="545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离线触发严重报警，恢复自动记录设备恢复。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0000" y="4450000"/>
            <a:ext cx="54562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参数变更留痕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0000" y="4830000"/>
            <a:ext cx="54562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谁在何时改了什么，审计表一查便知。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业务闭环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报警处置闭环 —— 每条告警都有交代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09 / 15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468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480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492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504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516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528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540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552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12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24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00000" y="14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606200" y="14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400000" y="30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8606200" y="3000000"/>
            <a:ext cx="29000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400000" y="4600000"/>
            <a:ext cx="6106200" cy="110000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7" name="Connector 36"/>
          <p:cNvCxnSpPr/>
          <p:nvPr/>
        </p:nvCxnSpPr>
        <p:spPr>
          <a:xfrm>
            <a:off x="6300000" y="2500000"/>
            <a:ext cx="0" cy="50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00000" y="2500000"/>
            <a:ext cx="0" cy="25000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00000" y="2750000"/>
            <a:ext cx="2000000" cy="0"/>
          </a:xfrm>
          <a:prstGeom prst="line">
            <a:avLst/>
          </a:prstGeom>
          <a:ln w="19050">
            <a:solidFill>
              <a:srgbClr val="0E3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500000" y="2500000"/>
            <a:ext cx="0" cy="25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500000" y="2500000"/>
            <a:ext cx="0" cy="50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300000" y="3600000"/>
            <a:ext cx="306200" cy="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500000" y="4100000"/>
            <a:ext cx="0" cy="500000"/>
          </a:xfrm>
          <a:prstGeom prst="line">
            <a:avLst/>
          </a:prstGeom>
          <a:ln w="1905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500000" y="14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settings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6200" y="14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samples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0000" y="30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6200" y="308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alarms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00000" y="4680000"/>
            <a:ext cx="59062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device_heartbeat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0000" y="18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参数设置历史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6200" y="18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采样数据 · 五表核心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0000" y="34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审计记录（谁做了什么）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6200" y="340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报警记录（rule + reason）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0000" y="5000000"/>
            <a:ext cx="59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 / 离线 / 恢复事件（离线同时生成报警）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0000" y="20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threshold · interval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6200" y="20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ts · device_id · value · seq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00000" y="36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actor · action · detail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06200" y="3660000"/>
            <a:ext cx="27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level · rule · reason · 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0000" y="5260000"/>
            <a:ext cx="59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event = beat / offline / online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000" y="252000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参数变更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00000" y="252000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生效阈值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0000" y="2600000"/>
            <a:ext cx="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越阈报警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0000" y="4200000"/>
            <a:ext cx="14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心跳/离线事件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1400000"/>
            <a:ext cx="44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85800" y="2900000"/>
            <a:ext cx="44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85800" y="4400000"/>
            <a:ext cx="44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85800" y="1500000"/>
            <a:ext cx="4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统一字段口径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5800" y="188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时间 / 设备号 / 来源 / 状态 / 审计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5800" y="3000000"/>
            <a:ext cx="4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3 个时间索引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5800" y="338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历史查询按时间走索引，不全表加载。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5800" y="4500000"/>
            <a:ext cx="4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可导出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5800" y="488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时间筛选、统计摘要与 CSV 导出。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数据可靠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数据可靠与全程可追溯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10 / 15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468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480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492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504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516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528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540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552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564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576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588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600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612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624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12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24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43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85800" y="221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85800" y="299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85800" y="377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7400000" y="143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400000" y="221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7400000" y="299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7400000" y="3770000"/>
            <a:ext cx="4106200" cy="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8200" y="162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密钥环境变量化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240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统一鉴权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18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未登录 API → 401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3960000"/>
            <a:ext cx="24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CSRF 防护 + 口令哈希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00000" y="166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敏感配置走 .env，不进代码仓库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00000" y="244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所有写操作与后台页面统一校验会话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0000" y="322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接口不返回业务数据，只返回 401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0000" y="4000000"/>
            <a:ext cx="35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表单带令牌；口令支持哈希校验存储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20000" y="153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101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0000" y="231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20000" y="309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断网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0000" y="3870000"/>
            <a:ext cx="12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00000" y="155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项测试用例 · 11 个测试文件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00000" y="233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个测试文件（含 conftest）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00000" y="311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three.js / ECharts 已本地化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0000" y="3890000"/>
            <a:ext cx="2606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个 Python 模块 · 约 1500 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4680000"/>
            <a:ext cx="108204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实跑：101 项用例 · 覆盖规则、数据、鉴权、串口与页面壳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060000"/>
            <a:ext cx="108204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11 个测试文件覆盖规则、数据、鉴权、CSRF、串口、设备与页面壳。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工程质量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安全与工程化 —— 能交付的程度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11 / 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12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24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00000" y="1400000"/>
            <a:ext cx="5706200" cy="1300000"/>
          </a:xfrm>
          <a:prstGeom prst="roundRect">
            <a:avLst>
              <a:gd name="adj" fmla="val 4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800000" y="29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753100" y="29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9706200" y="29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800000" y="37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753100" y="37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706200" y="37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800000" y="45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7753100" y="45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706200" y="4500000"/>
            <a:ext cx="1800000" cy="70000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920000" y="1460000"/>
            <a:ext cx="5466200" cy="6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101 项用例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0000" y="2130000"/>
            <a:ext cx="546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0F7F5"/>
                </a:solidFill>
                <a:latin typeface="Segoe UI"/>
                <a:ea typeface="微软雅黑"/>
                <a:cs typeface="Segoe UI"/>
              </a:rPr>
              <a:t>101 项用例 · 11 个测试文件（10 个 test_*.py + conftest.py）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0000" y="2380000"/>
            <a:ext cx="546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按测试域分组展示：不列分项用例数，只报已核实总数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0000" y="29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数据层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53100" y="29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鉴权与 CSRF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06200" y="29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规则引擎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0000" y="37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设备与串口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53100" y="37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接口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6200" y="37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页面渲染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00000" y="45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移动端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53100" y="45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测试夹具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6200" y="456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全量回归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0000" y="32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五表读写与索引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53100" y="32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登录态与令牌校验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06200" y="32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6 类规则与滞回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0000" y="40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心跳、超时与离线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53100" y="40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路由返回与状态码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6200" y="40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模板与静态资源可用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0000" y="48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≤768px 走趋势页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3100" y="48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conftest.py 与夹具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06200" y="4870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pytest tests/ -q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1400000"/>
            <a:ext cx="48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85800" y="2900000"/>
            <a:ext cx="48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685800" y="4400000"/>
            <a:ext cx="4800000" cy="13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85800" y="1500000"/>
            <a:ext cx="45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101 项用例 · 11 个文件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5800" y="190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覆盖规则、数据、鉴权、CSRF、串口、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5800" y="223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设备心跳、页面壳与移动端布局。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5800" y="3000000"/>
            <a:ext cx="45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阈值口径同步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5800" y="338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阈值与历史口径对齐设置页。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5800" y="4500000"/>
            <a:ext cx="45000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可复核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5800" y="4880000"/>
            <a:ext cx="4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源码、测试输出、现场演示三重证据。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验证证据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可度量成果 —— 测试覆盖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12 / 15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348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36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372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38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396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408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420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432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444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456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468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480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492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504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516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528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540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552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564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576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588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600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612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624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636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12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24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350000"/>
            <a:ext cx="5200000" cy="3250000"/>
          </a:xfrm>
          <a:prstGeom prst="roundRect">
            <a:avLst>
              <a:gd name="adj" fmla="val 3000"/>
            </a:avLst>
          </a:prstGeom>
          <a:solidFill>
            <a:srgbClr val="E8F0FA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200000" y="1350000"/>
            <a:ext cx="5306200" cy="3250000"/>
          </a:xfrm>
          <a:prstGeom prst="roundRect">
            <a:avLst>
              <a:gd name="adj" fmla="val 3000"/>
            </a:avLst>
          </a:prstGeom>
          <a:solidFill>
            <a:srgbClr val="E0F7F5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5900000" y="2900000"/>
            <a:ext cx="250000" cy="0"/>
          </a:xfrm>
          <a:prstGeom prst="line">
            <a:avLst/>
          </a:prstGeom>
          <a:ln w="25400">
            <a:solidFill>
              <a:srgbClr val="0E3F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5800" y="1450000"/>
            <a:ext cx="49000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当前边界（如实说明）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0" y="1450000"/>
            <a:ext cx="5006200" cy="3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下一步扩展方向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800" y="195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单设备原型：只有一个测点通道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800" y="243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相对应变指标：无量纲，不做物理换算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800" y="291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1 秒采样周期，曲线保留最近 60 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800" y="339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未做长期稳定性验证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800" y="3870000"/>
            <a:ext cx="49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未做工程级标定与量值溯源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0" y="195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多测点：增加测点通道与布点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0" y="243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HTTP 备份通道：串口之外的第二条路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0" y="291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长期测试：连续运行与稳定性观察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0" y="3390000"/>
            <a:ext cx="5006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更细标定：标定流程与版本管理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730000"/>
            <a:ext cx="10820400" cy="3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拿不出证据的，就如实说「待实测」。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110000"/>
            <a:ext cx="108204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单设备原型 · 相对应变指标无量纲 · 采样周期 1 秒 · 未做长期稳定性验证。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诚实边界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诚实边界与扩展方向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13 / 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12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24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19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38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48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67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76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6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5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4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34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536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632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82400" y="0"/>
            <a:ext cx="0" cy="603504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D8E0EA">
                <a:alpha val="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85800" y="1188720"/>
            <a:ext cx="45720" cy="54864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02000" y="1188720"/>
            <a:ext cx="2400000" cy="700000"/>
          </a:xfrm>
          <a:prstGeom prst="roundRect">
            <a:avLst>
              <a:gd name="adj" fmla="val 8000"/>
            </a:avLst>
          </a:prstGeom>
          <a:solidFill>
            <a:srgbClr val="E0F7F5"/>
          </a:solidFill>
          <a:ln w="19050">
            <a:solidFill>
              <a:srgbClr val="00B3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188720" y="5335040"/>
            <a:ext cx="2400000" cy="7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615280" y="5335040"/>
            <a:ext cx="2400000" cy="7000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905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 flipH="1">
            <a:off x="5151557" y="1888720"/>
            <a:ext cx="636993" cy="71128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702223" y="4000000"/>
            <a:ext cx="1195488" cy="133504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15450" y="1888720"/>
            <a:ext cx="636993" cy="71128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06289" y="4000000"/>
            <a:ext cx="1195488" cy="133504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88720" y="5685040"/>
            <a:ext cx="5026560" cy="0"/>
          </a:xfrm>
          <a:prstGeom prst="line">
            <a:avLst/>
          </a:prstGeom>
          <a:ln w="19050">
            <a:solidFill>
              <a:srgbClr val="8A9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02000" y="1248720"/>
            <a:ext cx="22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可解释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2000" y="1588720"/>
            <a:ext cx="2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每条报警都有 rule + reason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8720" y="5395040"/>
            <a:ext cx="22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可追溯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8720" y="5735040"/>
            <a:ext cx="2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五表 + 审计留痕，历史可查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5280" y="5395040"/>
            <a:ext cx="220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不造假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5280" y="5735040"/>
            <a:ext cx="220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Segoe UI"/>
                <a:ea typeface="微软雅黑"/>
                <a:cs typeface="Segoe UI"/>
              </a:rPr>
              <a:t>断线如实离线 · 模拟数据明示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0000" y="2650000"/>
            <a:ext cx="7986560" cy="6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7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说得出口的，必须拿得出证据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0000" y="3400000"/>
            <a:ext cx="7986560" cy="4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做完整的监测闭环，不做无法佐证的能力描述。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28600"/>
            <a:ext cx="730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 i="0" spc="200">
                <a:solidFill>
                  <a:srgbClr val="00B3A4"/>
                </a:solidFill>
                <a:latin typeface="Segoe UI"/>
                <a:ea typeface="微软雅黑"/>
                <a:cs typeface="Segoe UI"/>
              </a:rPr>
              <a:t>价值收束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76250"/>
            <a:ext cx="73000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7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价值总结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100584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5800" y="6126480"/>
            <a:ext cx="10820400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172200"/>
            <a:ext cx="1168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桥体卫士 · 桥梁结构健康监测缩尺原型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6172200"/>
            <a:ext cx="1219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14 / 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8853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398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9943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5488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1032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6577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2122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7667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32120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756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43016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98464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53912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09360" y="6281928"/>
            <a:ext cx="118872" cy="5943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64808" y="6281928"/>
            <a:ext cx="118872" cy="5943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4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8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84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08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44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56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6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80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9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204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16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28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24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25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26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276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288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0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312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324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3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12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24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62000"/>
            <a:ext cx="914400" cy="2286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110600"/>
            <a:ext cx="457200" cy="228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152400" cy="18288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780000" y="76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200000" y="762000"/>
            <a:ext cx="300000" cy="300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620000" y="76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040000" y="762000"/>
            <a:ext cx="300000" cy="30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460000" y="76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880000" y="762000"/>
            <a:ext cx="300000" cy="300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780000" y="1182000"/>
            <a:ext cx="300000" cy="30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200000" y="118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620000" y="118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040000" y="1182000"/>
            <a:ext cx="300000" cy="300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460000" y="1182000"/>
            <a:ext cx="300000" cy="300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880000" y="1182000"/>
            <a:ext cx="300000" cy="30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00000" y="2900000"/>
            <a:ext cx="6192000" cy="8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4000" b="1" i="0" spc="300">
                <a:solidFill>
                  <a:srgbClr val="0E3F8C"/>
                </a:solidFill>
                <a:latin typeface="Segoe UI"/>
                <a:ea typeface="微软雅黑"/>
                <a:cs typeface="Segoe UI"/>
              </a:rPr>
              <a:t>谢谢各位评委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0000" y="3850000"/>
            <a:ext cx="7792000" cy="35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8A97A8"/>
                </a:solidFill>
                <a:latin typeface="Segoe UI"/>
                <a:ea typeface="微软雅黑"/>
                <a:cs typeface="Segoe UI"/>
              </a:rPr>
              <a:t>接下来请看现场演示：模拟数据源 + 浏览器三维可视化监测场景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0000" y="1250000"/>
            <a:ext cx="619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600" b="1" i="0">
                <a:solidFill>
                  <a:srgbClr val="0B1B2B"/>
                </a:solidFill>
                <a:latin typeface="Segoe UI"/>
                <a:ea typeface="微软雅黑"/>
                <a:cs typeface="Segoe UI"/>
              </a:rPr>
              <a:t>致谢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4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6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48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60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72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84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24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36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48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60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7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84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96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108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12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